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A9B9"/>
                </a:solidFill>
                <a:latin typeface="Aptos"/>
              </a:rPr>
              <a:t>01 · 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63D"/>
                </a:solidFill>
                <a:latin typeface="Aptos Display"/>
              </a:rPr>
              <a:t>Da reclamação à ação: o gargalo está no meio do caminho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680"/>
                </a:solidFill>
                <a:latin typeface="Aptos"/>
              </a:rPr>
              <a:t>O problema não é apenas receber chamados — é transformar manifestações em atendimento operacional mensurável.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0"/>
                </a:solidFill>
                <a:latin typeface="Aptos"/>
              </a:rPr>
              <a:t>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429000" cy="333756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64008" cy="3337560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2039112"/>
            <a:ext cx="393192" cy="39319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66543"/>
            <a:ext cx="3931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2082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0263D"/>
                </a:solidFill>
                <a:latin typeface="Aptos"/>
              </a:rPr>
              <a:t>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297180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28343E"/>
                </a:solidFill>
                <a:latin typeface="Aptos"/>
              </a:rPr>
              <a:t>• Chamados precisam ser recebidos, validados e localizados.
• Duplicidades podem consumir tempo e recursos.
• Prioridade, SLA e despacho precisam ser coordenados.
• A execução precisa gerar evidência e histórico.
• Gestão precisa enxergar volume, prazo e produtividade.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74519"/>
            <a:ext cx="3429000" cy="333756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874519"/>
            <a:ext cx="64008" cy="3337560"/>
          </a:xfrm>
          <a:prstGeom prst="rect">
            <a:avLst/>
          </a:prstGeom>
          <a:solidFill>
            <a:srgbClr val="E88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4840" y="2039112"/>
            <a:ext cx="393192" cy="393192"/>
          </a:xfrm>
          <a:prstGeom prst="ellipse">
            <a:avLst/>
          </a:prstGeom>
          <a:solidFill>
            <a:srgbClr val="E88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066543"/>
            <a:ext cx="3931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2082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0263D"/>
                </a:solidFill>
                <a:latin typeface="Aptos"/>
              </a:rPr>
              <a:t>Desafio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41448"/>
            <a:ext cx="297180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28343E"/>
                </a:solidFill>
                <a:latin typeface="Aptos"/>
              </a:rPr>
              <a:t>Conectar, em um único fluxo, cidadão, Central, equipes de campo e gestão municipal — sem perder informação entre o registro e a execução.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874519"/>
            <a:ext cx="3657600" cy="333756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9560" y="1874519"/>
            <a:ext cx="64008" cy="33375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92440" y="2039112"/>
            <a:ext cx="393192" cy="39319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2066543"/>
            <a:ext cx="3931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020824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0263D"/>
                </a:solidFill>
                <a:latin typeface="Aptos"/>
              </a:rPr>
              <a:t>Nossa solução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441448"/>
            <a:ext cx="320040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50">
                <a:solidFill>
                  <a:srgbClr val="28343E"/>
                </a:solidFill>
                <a:latin typeface="Aptos"/>
              </a:rPr>
              <a:t>INDaiatuba em Ordem
Uma camada de inteligência operacional que estrutura ocorrências, identifica possíveis duplicidades, recomenda prioridade, controla SLA, despacha equipes e mede a execução.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5532120"/>
            <a:ext cx="1417320" cy="384048"/>
          </a:xfrm>
          <a:prstGeom prst="round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586983"/>
            <a:ext cx="14173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Cidadão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5532120"/>
            <a:ext cx="1417320" cy="384048"/>
          </a:xfrm>
          <a:prstGeom prst="round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5586983"/>
            <a:ext cx="14173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Ocorrência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5532120"/>
            <a:ext cx="1417320" cy="384048"/>
          </a:xfrm>
          <a:prstGeom prst="roundRect">
            <a:avLst/>
          </a:prstGeom>
          <a:solidFill>
            <a:srgbClr val="E88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5586983"/>
            <a:ext cx="14173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Prioridade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532120"/>
            <a:ext cx="1417320" cy="384048"/>
          </a:xfrm>
          <a:prstGeom prst="round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5586983"/>
            <a:ext cx="14173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Despacho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5532120"/>
            <a:ext cx="1417320" cy="38404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5586983"/>
            <a:ext cx="14173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Execução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5532120"/>
            <a:ext cx="1600200" cy="384048"/>
          </a:xfrm>
          <a:prstGeom prst="roundRect">
            <a:avLst/>
          </a:prstGeom>
          <a:solidFill>
            <a:srgbClr val="10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5586983"/>
            <a:ext cx="1600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Evidência + KPI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A9B9"/>
                </a:solidFill>
                <a:latin typeface="Aptos"/>
              </a:rPr>
              <a:t>02 · POR QUE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63D"/>
                </a:solidFill>
                <a:latin typeface="Aptos Display"/>
              </a:rPr>
              <a:t>Uma solução que fecha o ciclo da zeladoria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680"/>
                </a:solidFill>
                <a:latin typeface="Aptos"/>
              </a:rPr>
              <a:t>O diferencial é integrar operação, inteligência e transparência — não simplesmente criar outro canal de atendimento.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0"/>
                </a:solidFill>
                <a:latin typeface="Aptos"/>
              </a:rP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606040" cy="38404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92807"/>
            <a:ext cx="23865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APP DO CIDADÃO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23160"/>
            <a:ext cx="220370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8343E"/>
                </a:solidFill>
                <a:latin typeface="Aptos"/>
              </a:rPr>
              <a:t>Foto • GPS • categoria
Protocolo • acompanhamento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A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2606040" cy="384048"/>
          </a:xfrm>
          <a:prstGeom prst="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892807"/>
            <a:ext cx="23865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CENTRAL INTELIGENTE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23160"/>
            <a:ext cx="220370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8343E"/>
                </a:solidFill>
                <a:latin typeface="Aptos"/>
              </a:rPr>
              <a:t>Mapa • duplicidade
IA + regras • SLA • despacho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06040" cy="3840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892807"/>
            <a:ext cx="23865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APP DA EQUIPE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23160"/>
            <a:ext cx="220370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8343E"/>
                </a:solidFill>
                <a:latin typeface="Aptos"/>
              </a:rPr>
              <a:t>Aceite • KM • chegada
Execução • foto antes/depois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288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1828800"/>
            <a:ext cx="2606040" cy="384048"/>
          </a:xfrm>
          <a:prstGeom prst="rect">
            <a:avLst/>
          </a:prstGeom>
          <a:solidFill>
            <a:srgbClr val="10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6567" y="1892807"/>
            <a:ext cx="23865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423160"/>
            <a:ext cx="220370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8343E"/>
                </a:solidFill>
                <a:latin typeface="Aptos"/>
              </a:rPr>
              <a:t>Volume • prioridades
SLA • produtividade • mapa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82112" y="2743200"/>
            <a:ext cx="228600" cy="0"/>
          </a:xfrm>
          <a:prstGeom prst="line">
            <a:avLst/>
          </a:prstGeom>
          <a:ln w="25400">
            <a:solidFill>
              <a:srgbClr val="697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71032" y="2743200"/>
            <a:ext cx="228600" cy="0"/>
          </a:xfrm>
          <a:prstGeom prst="line">
            <a:avLst/>
          </a:prstGeom>
          <a:ln w="25400">
            <a:solidFill>
              <a:srgbClr val="697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59952" y="2743200"/>
            <a:ext cx="228600" cy="0"/>
          </a:xfrm>
          <a:prstGeom prst="line">
            <a:avLst/>
          </a:prstGeom>
          <a:ln w="25400">
            <a:solidFill>
              <a:srgbClr val="697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" y="4069080"/>
            <a:ext cx="10287000" cy="1417320"/>
          </a:xfrm>
          <a:prstGeom prst="roundRect">
            <a:avLst/>
          </a:prstGeom>
          <a:solidFill>
            <a:srgbClr val="10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4279392"/>
            <a:ext cx="18105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A9B9"/>
                </a:solidFill>
                <a:latin typeface="Aptos"/>
              </a:rPr>
              <a:t>INTELIGÊNCIA OPERACIONAL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187952"/>
            <a:ext cx="1691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01  Prioriza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CE6EC"/>
                </a:solidFill>
                <a:latin typeface="Aptos"/>
              </a:rPr>
              <a:t>risco + impacto + tempo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187952"/>
            <a:ext cx="1691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02  Evita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CE6EC"/>
                </a:solidFill>
                <a:latin typeface="Aptos"/>
              </a:rPr>
              <a:t>possíveis duplicidades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4187952"/>
            <a:ext cx="1691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03  Controla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CE6EC"/>
                </a:solidFill>
                <a:latin typeface="Aptos"/>
              </a:rPr>
              <a:t>SLA e escalonamento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187952"/>
            <a:ext cx="1691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04  Comprova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CE6EC"/>
                </a:solidFill>
                <a:latin typeface="Aptos"/>
              </a:rPr>
              <a:t>execução com evidências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263D"/>
                </a:solidFill>
                <a:latin typeface="Aptos"/>
              </a:rPr>
              <a:t>Não substitui a decisão humana: a IA recomenda; regras, SLA e validação humana controlam a operação.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A9B9"/>
                </a:solidFill>
                <a:latin typeface="Aptos"/>
              </a:rPr>
              <a:t>03 · IMPACTO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263D"/>
                </a:solidFill>
                <a:latin typeface="Aptos Display"/>
              </a:rPr>
              <a:t>Mais eficiência para a Prefeitura. Mais transparência para o cidadão.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7680"/>
                </a:solidFill>
                <a:latin typeface="Aptos"/>
              </a:rPr>
              <a:t>Os resultados abaixo são objetivos de impacto e indicadores de sucesso do projeto — não resultados já medidos.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680"/>
                </a:solidFill>
                <a:latin typeface="Aptos"/>
              </a:rP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24028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240280" cy="82296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13055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97680"/>
                </a:solidFill>
                <a:latin typeface="Aptos"/>
              </a:rPr>
              <a:t>ATENDIMENTO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1460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5B91"/>
                </a:solidFill>
                <a:latin typeface="Aptos Display"/>
              </a:rPr>
              <a:t>↓ tempo médio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081528"/>
            <a:ext cx="1925527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43E"/>
                </a:solidFill>
                <a:latin typeface="Aptos"/>
              </a:rPr>
              <a:t>Acompanhar o tempo </a:t>
            </a:r>
            <a:r>
              <a:rPr sz="1050" smtClean="0">
                <a:solidFill>
                  <a:srgbClr val="28343E"/>
                </a:solidFill>
                <a:latin typeface="Aptos"/>
              </a:rPr>
              <a:t>entre</a:t>
            </a:r>
            <a:endParaRPr lang="pt-BR" sz="1050" dirty="0" smtClean="0">
              <a:solidFill>
                <a:srgbClr val="28343E"/>
              </a:solidFill>
              <a:latin typeface="Aptos"/>
            </a:endParaRPr>
          </a:p>
          <a:p>
            <a:r>
              <a:rPr sz="1050" smtClean="0">
                <a:solidFill>
                  <a:srgbClr val="28343E"/>
                </a:solidFill>
                <a:latin typeface="Aptos"/>
              </a:rPr>
              <a:t> </a:t>
            </a:r>
            <a:r>
              <a:rPr sz="1050">
                <a:solidFill>
                  <a:srgbClr val="28343E"/>
                </a:solidFill>
                <a:latin typeface="Aptos"/>
              </a:rPr>
              <a:t>registro, despacho, </a:t>
            </a:r>
            <a:r>
              <a:rPr sz="1050" smtClean="0">
                <a:solidFill>
                  <a:srgbClr val="28343E"/>
                </a:solidFill>
                <a:latin typeface="Aptos"/>
              </a:rPr>
              <a:t>chegada</a:t>
            </a:r>
            <a:endParaRPr lang="pt-BR" sz="1050" dirty="0" smtClean="0">
              <a:solidFill>
                <a:srgbClr val="28343E"/>
              </a:solidFill>
              <a:latin typeface="Aptos"/>
            </a:endParaRPr>
          </a:p>
          <a:p>
            <a:r>
              <a:rPr sz="1050" smtClean="0">
                <a:solidFill>
                  <a:srgbClr val="28343E"/>
                </a:solidFill>
                <a:latin typeface="Aptos"/>
              </a:rPr>
              <a:t> </a:t>
            </a:r>
            <a:r>
              <a:rPr sz="1050">
                <a:solidFill>
                  <a:srgbClr val="28343E"/>
                </a:solidFill>
                <a:latin typeface="Aptos"/>
              </a:rPr>
              <a:t>e execução.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874519"/>
            <a:ext cx="224028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874519"/>
            <a:ext cx="2240280" cy="82296"/>
          </a:xfrm>
          <a:prstGeom prst="rect">
            <a:avLst/>
          </a:prstGeom>
          <a:solidFill>
            <a:srgbClr val="E88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213055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97680"/>
                </a:solidFill>
                <a:latin typeface="Aptos"/>
              </a:rPr>
              <a:t>PRAZO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514600"/>
            <a:ext cx="193514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8F2F"/>
                </a:solidFill>
                <a:latin typeface="Aptos Display"/>
              </a:rPr>
              <a:t>↑ % dentro do </a:t>
            </a:r>
            <a:endParaRPr lang="pt-BR" sz="2000" b="1" dirty="0" smtClean="0">
              <a:solidFill>
                <a:srgbClr val="E88F2F"/>
              </a:solidFill>
              <a:latin typeface="Aptos Display"/>
            </a:endParaRPr>
          </a:p>
          <a:p>
            <a:r>
              <a:rPr sz="2000" b="1" smtClean="0">
                <a:solidFill>
                  <a:srgbClr val="E88F2F"/>
                </a:solidFill>
                <a:latin typeface="Aptos Display"/>
              </a:rPr>
              <a:t>SLA</a:t>
            </a:r>
            <a:endParaRPr sz="2000" b="1">
              <a:solidFill>
                <a:srgbClr val="E88F2F"/>
              </a:solidFill>
              <a:latin typeface="Aptos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5032" y="3222485"/>
            <a:ext cx="17972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8343E"/>
                </a:solidFill>
                <a:latin typeface="Aptos"/>
              </a:rPr>
              <a:t>Controlar prioridades</a:t>
            </a:r>
            <a:r>
              <a:rPr sz="1050" smtClean="0">
                <a:solidFill>
                  <a:srgbClr val="28343E"/>
                </a:solidFill>
                <a:latin typeface="Aptos"/>
              </a:rPr>
              <a:t>,</a:t>
            </a:r>
            <a:endParaRPr lang="pt-BR" sz="1050" dirty="0" smtClean="0">
              <a:solidFill>
                <a:srgbClr val="28343E"/>
              </a:solidFill>
              <a:latin typeface="Aptos"/>
            </a:endParaRPr>
          </a:p>
          <a:p>
            <a:r>
              <a:rPr sz="1050" smtClean="0">
                <a:solidFill>
                  <a:srgbClr val="28343E"/>
                </a:solidFill>
                <a:latin typeface="Aptos"/>
              </a:rPr>
              <a:t> </a:t>
            </a:r>
            <a:r>
              <a:rPr sz="1050">
                <a:solidFill>
                  <a:srgbClr val="28343E"/>
                </a:solidFill>
                <a:latin typeface="Aptos"/>
              </a:rPr>
              <a:t>prazos e escalonamentos.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74519"/>
            <a:ext cx="224028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874519"/>
            <a:ext cx="2240280" cy="8229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13055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97680"/>
                </a:solidFill>
                <a:latin typeface="Aptos"/>
              </a:rPr>
              <a:t>OPERAÇÃO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51460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8B57"/>
                </a:solidFill>
                <a:latin typeface="Aptos Display"/>
              </a:rPr>
              <a:t>↑ produtividade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081528"/>
            <a:ext cx="197201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43E"/>
                </a:solidFill>
                <a:latin typeface="Aptos"/>
              </a:rPr>
              <a:t>Medir ocorrências por equipe</a:t>
            </a:r>
            <a:r>
              <a:rPr sz="1050" smtClean="0">
                <a:solidFill>
                  <a:srgbClr val="28343E"/>
                </a:solidFill>
                <a:latin typeface="Aptos"/>
              </a:rPr>
              <a:t>,</a:t>
            </a:r>
            <a:endParaRPr lang="pt-BR" sz="1050" dirty="0" smtClean="0">
              <a:solidFill>
                <a:srgbClr val="28343E"/>
              </a:solidFill>
              <a:latin typeface="Aptos"/>
            </a:endParaRPr>
          </a:p>
          <a:p>
            <a:r>
              <a:rPr sz="1050" smtClean="0">
                <a:solidFill>
                  <a:srgbClr val="28343E"/>
                </a:solidFill>
                <a:latin typeface="Aptos"/>
              </a:rPr>
              <a:t> </a:t>
            </a:r>
            <a:r>
              <a:rPr sz="1050">
                <a:solidFill>
                  <a:srgbClr val="28343E"/>
                </a:solidFill>
                <a:latin typeface="Aptos"/>
              </a:rPr>
              <a:t>deslocamento e execução.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874519"/>
            <a:ext cx="224028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1874519"/>
            <a:ext cx="2240280" cy="82296"/>
          </a:xfrm>
          <a:prstGeom prst="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45752" y="213055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97680"/>
                </a:solidFill>
                <a:latin typeface="Aptos"/>
              </a:rPr>
              <a:t>CONFIANÇA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51460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A9B9"/>
                </a:solidFill>
                <a:latin typeface="Aptos Display"/>
              </a:rPr>
              <a:t>↑ transparência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3081528"/>
            <a:ext cx="209063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8343E"/>
                </a:solidFill>
                <a:latin typeface="Aptos"/>
              </a:rPr>
              <a:t>Evidências, histórico</a:t>
            </a:r>
            <a:r>
              <a:rPr sz="1050" smtClean="0">
                <a:solidFill>
                  <a:srgbClr val="28343E"/>
                </a:solidFill>
                <a:latin typeface="Aptos"/>
              </a:rPr>
              <a:t>,</a:t>
            </a:r>
            <a:endParaRPr lang="pt-BR" sz="1050" dirty="0" smtClean="0">
              <a:solidFill>
                <a:srgbClr val="28343E"/>
              </a:solidFill>
              <a:latin typeface="Aptos"/>
            </a:endParaRPr>
          </a:p>
          <a:p>
            <a:r>
              <a:rPr sz="1050" smtClean="0">
                <a:solidFill>
                  <a:srgbClr val="28343E"/>
                </a:solidFill>
                <a:latin typeface="Aptos"/>
              </a:rPr>
              <a:t> </a:t>
            </a:r>
            <a:r>
              <a:rPr sz="1050">
                <a:solidFill>
                  <a:srgbClr val="28343E"/>
                </a:solidFill>
                <a:latin typeface="Aptos"/>
              </a:rPr>
              <a:t>protocolo e retorno ao cidadão.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2A9B9"/>
                </a:solidFill>
                <a:latin typeface="Aptos"/>
              </a:rPr>
              <a:t>CICLO DE VALOR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54880"/>
            <a:ext cx="1389888" cy="566928"/>
          </a:xfrm>
          <a:prstGeom prst="round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89204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Identificar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13432" y="4754880"/>
            <a:ext cx="1389888" cy="566928"/>
          </a:xfrm>
          <a:prstGeom prst="round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13432" y="489204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Analisar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41064" y="4754880"/>
            <a:ext cx="1389888" cy="566928"/>
          </a:xfrm>
          <a:prstGeom prst="roundRect">
            <a:avLst/>
          </a:prstGeom>
          <a:solidFill>
            <a:srgbClr val="E88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41064" y="489204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Priorizar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68696" y="4754880"/>
            <a:ext cx="1389888" cy="56692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68696" y="489204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Executar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96328" y="4754880"/>
            <a:ext cx="1389888" cy="566928"/>
          </a:xfrm>
          <a:prstGeom prst="round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96328" y="489204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Comprovar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4754880"/>
            <a:ext cx="1389888" cy="566928"/>
          </a:xfrm>
          <a:prstGeom prst="roundRect">
            <a:avLst/>
          </a:prstGeom>
          <a:solidFill>
            <a:srgbClr val="10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489204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Medir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51592" y="4754880"/>
            <a:ext cx="1389888" cy="566928"/>
          </a:xfrm>
          <a:prstGeom prst="roundRect">
            <a:avLst/>
          </a:prstGeom>
          <a:solidFill>
            <a:srgbClr val="22A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51592" y="4892040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Informar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17320" y="5623560"/>
            <a:ext cx="9372600" cy="566928"/>
          </a:xfrm>
          <a:prstGeom prst="roundRect">
            <a:avLst/>
          </a:prstGeom>
          <a:solidFill>
            <a:srgbClr val="10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00200" y="5751576"/>
            <a:ext cx="8332729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smtClean="0">
                <a:solidFill>
                  <a:srgbClr val="FFFFFF"/>
                </a:solidFill>
                <a:latin typeface="Aptos"/>
              </a:rPr>
              <a:t>I</a:t>
            </a:r>
            <a:r>
              <a:rPr lang="pt-BR" sz="1150" b="1" dirty="0" err="1" smtClean="0">
                <a:solidFill>
                  <a:srgbClr val="FFFFFF"/>
                </a:solidFill>
                <a:latin typeface="Aptos"/>
              </a:rPr>
              <a:t>nd</a:t>
            </a:r>
            <a:r>
              <a:rPr sz="1150" b="1" smtClean="0">
                <a:solidFill>
                  <a:srgbClr val="FFFFFF"/>
                </a:solidFill>
                <a:latin typeface="Aptos"/>
              </a:rPr>
              <a:t>aiatuba </a:t>
            </a:r>
            <a:r>
              <a:rPr sz="1150" b="1">
                <a:solidFill>
                  <a:srgbClr val="FFFFFF"/>
                </a:solidFill>
                <a:latin typeface="Aptos"/>
              </a:rPr>
              <a:t>em Ordem — transformar manifestações em ordens de serviço inteligentes, mensuráveis e transparentes.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312</Words>
  <Application>Microsoft Macintosh PowerPoint</Application>
  <PresentationFormat>Personalizar</PresentationFormat>
  <Paragraphs>72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Milton</cp:lastModifiedBy>
  <cp:revision>3</cp:revision>
  <dcterms:created xsi:type="dcterms:W3CDTF">2013-01-27T09:14:16Z</dcterms:created>
  <dcterms:modified xsi:type="dcterms:W3CDTF">2026-10-07T18:13:56Z</dcterms:modified>
  <cp:category/>
</cp:coreProperties>
</file>