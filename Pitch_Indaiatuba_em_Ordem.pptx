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79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058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45B96"/>
                </a:solidFill>
              </a:defRPr>
            </a:pPr>
            <a:r>
              <a:t>INDAIATUBA EM ORDEM</a:t>
            </a:r>
          </a:p>
          <a:p>
            <a:pPr algn="ctr">
              <a:defRPr sz="2400"/>
            </a:pPr>
            <a:r>
              <a:t>Plataforma Inteligente de Zeladoria Urbana</a:t>
            </a:r>
          </a:p>
          <a:p>
            <a:pPr algn="ctr">
              <a:defRPr sz="1700"/>
            </a:pPr>
            <a:r>
              <a:t>Hackathon Fatec — Desafio 02: Cidade em Ordem</a:t>
            </a:r>
          </a:p>
        </p:txBody>
      </p:sp>
      <p:pic>
        <p:nvPicPr>
          <p:cNvPr id="3" name="Picture 2" descr="04_dashboard_gere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743201"/>
            <a:ext cx="8046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1. 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Registrar a ocorrência é apenas o início.</a:t>
            </a:r>
          </a:p>
          <a:p>
            <a:pPr>
              <a:spcAft>
                <a:spcPts val="1100"/>
              </a:spcAft>
              <a:defRPr sz="2000"/>
            </a:pPr>
            <a:r>
              <a:t>A Prefeitura precisa validar, localizar, priorizar, despachar, executar, comprovar e medir.</a:t>
            </a:r>
          </a:p>
          <a:p>
            <a:pPr>
              <a:spcAft>
                <a:spcPts val="1100"/>
              </a:spcAft>
              <a:defRPr sz="2000"/>
            </a:pPr>
            <a:r>
              <a:t>Ocorrências duplicadas podem gerar retrabalho e deslocamentos desnecessários.</a:t>
            </a:r>
          </a:p>
          <a:p>
            <a:pPr>
              <a:spcAft>
                <a:spcPts val="1100"/>
              </a:spcAft>
              <a:defRPr sz="2000"/>
            </a:pPr>
            <a:r>
              <a:t>O gestor precisa enxergar volume, prioridade, SLA, equipes e regiões críticas.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2. A oportunidade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Indaiatuba já possui o Minha Indaiatuba e o canal Zeladoria.</a:t>
            </a:r>
          </a:p>
          <a:p>
            <a:pPr>
              <a:spcAft>
                <a:spcPts val="1100"/>
              </a:spcAft>
              <a:defRPr sz="2000"/>
            </a:pPr>
            <a:r>
              <a:t>Propomos uma camada de inteligência operacional, não apenas um novo canal de reclamações.</a:t>
            </a:r>
          </a:p>
          <a:p>
            <a:pPr>
              <a:spcAft>
                <a:spcPts val="1100"/>
              </a:spcAft>
              <a:defRPr sz="2000"/>
            </a:pPr>
            <a:r>
              <a:t>Objetivo: transformar manifestação cidadã em ordem de serviço mensurável.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3. 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Cidadão → Central → Equipe de Campo → Gestão.</a:t>
            </a:r>
          </a:p>
          <a:p>
            <a:pPr>
              <a:spcAft>
                <a:spcPts val="1100"/>
              </a:spcAft>
              <a:defRPr sz="2000"/>
            </a:pPr>
            <a:r>
              <a:t>GPS + fotografia + georreferenciamento.</a:t>
            </a:r>
          </a:p>
          <a:p>
            <a:pPr>
              <a:spcAft>
                <a:spcPts val="1100"/>
              </a:spcAft>
              <a:defRPr sz="2000"/>
            </a:pPr>
            <a:r>
              <a:t>IA + regras de negócio + SLA.</a:t>
            </a:r>
          </a:p>
          <a:p>
            <a:pPr>
              <a:spcAft>
                <a:spcPts val="1100"/>
              </a:spcAft>
              <a:defRPr sz="2000"/>
            </a:pPr>
            <a:r>
              <a:t>Despacho e execução rastreáveis.</a:t>
            </a:r>
          </a:p>
          <a:p>
            <a:pPr>
              <a:spcAft>
                <a:spcPts val="1100"/>
              </a:spcAft>
              <a:defRPr sz="2000"/>
            </a:pPr>
            <a:r>
              <a:t>Dashboard e comunicação ao cidadão.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4. Aplicativo do cidadão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Categoria, descrição, fotografia e localização.</a:t>
            </a:r>
          </a:p>
          <a:p>
            <a:pPr>
              <a:spcAft>
                <a:spcPts val="1100"/>
              </a:spcAft>
              <a:defRPr sz="2000"/>
            </a:pPr>
            <a:r>
              <a:t>Verificação do GPS e confirmação do endereço.</a:t>
            </a:r>
          </a:p>
          <a:p>
            <a:pPr>
              <a:spcAft>
                <a:spcPts val="1100"/>
              </a:spcAft>
              <a:defRPr sz="2000"/>
            </a:pPr>
            <a:r>
              <a:t>Protocolo e acompanhamento.</a:t>
            </a:r>
          </a:p>
          <a:p>
            <a:pPr>
              <a:spcAft>
                <a:spcPts val="1100"/>
              </a:spcAft>
              <a:defRPr sz="2000"/>
            </a:pPr>
            <a:r>
              <a:t>Notificação de conclusão.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5. Tela — cidadão</a:t>
            </a:r>
          </a:p>
        </p:txBody>
      </p:sp>
      <p:pic>
        <p:nvPicPr>
          <p:cNvPr id="3" name="Picture 2" descr="01_tela_cidad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34440"/>
            <a:ext cx="3840480" cy="52929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6. Central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Mapa e fila por prioridade.</a:t>
            </a:r>
          </a:p>
          <a:p>
            <a:pPr>
              <a:spcAft>
                <a:spcPts val="1100"/>
              </a:spcAft>
              <a:defRPr sz="2000"/>
            </a:pPr>
            <a:r>
              <a:t>Detecção de possíveis duplicidades.</a:t>
            </a:r>
          </a:p>
          <a:p>
            <a:pPr>
              <a:spcAft>
                <a:spcPts val="1100"/>
              </a:spcAft>
              <a:defRPr sz="2000"/>
            </a:pPr>
            <a:r>
              <a:t>Análise da fotografia e classificação.</a:t>
            </a:r>
          </a:p>
          <a:p>
            <a:pPr>
              <a:spcAft>
                <a:spcPts val="1100"/>
              </a:spcAft>
              <a:defRPr sz="2000"/>
            </a:pPr>
            <a:r>
              <a:t>Operador valida, ajusta e despacha.</a:t>
            </a:r>
          </a:p>
          <a:p>
            <a:pPr>
              <a:spcAft>
                <a:spcPts val="1100"/>
              </a:spcAft>
              <a:defRPr sz="2000"/>
            </a:pPr>
            <a:r>
              <a:t>Alertas de SLA.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7. Tela — central</a:t>
            </a:r>
          </a:p>
        </p:txBody>
      </p:sp>
      <p:pic>
        <p:nvPicPr>
          <p:cNvPr id="3" name="Picture 2" descr="02_tela_cen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34440"/>
            <a:ext cx="3840480" cy="52789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8. Priorização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Índice de 0 a 100.</a:t>
            </a:r>
          </a:p>
          <a:p>
            <a:pPr>
              <a:spcAft>
                <a:spcPts val="1100"/>
              </a:spcAft>
              <a:defRPr sz="2000"/>
            </a:pPr>
            <a:r>
              <a:t>Risco à segurança/vida: 30.</a:t>
            </a:r>
          </a:p>
          <a:p>
            <a:pPr>
              <a:spcAft>
                <a:spcPts val="1100"/>
              </a:spcAft>
              <a:defRPr sz="2000"/>
            </a:pPr>
            <a:r>
              <a:t>Risco de acidente: 20.</a:t>
            </a:r>
          </a:p>
          <a:p>
            <a:pPr>
              <a:spcAft>
                <a:spcPts val="1100"/>
              </a:spcAft>
              <a:defRPr sz="2000"/>
            </a:pPr>
            <a:r>
              <a:t>Impacto no trânsito: 15.</a:t>
            </a:r>
          </a:p>
          <a:p>
            <a:pPr>
              <a:spcAft>
                <a:spcPts val="1100"/>
              </a:spcAft>
              <a:defRPr sz="2000"/>
            </a:pPr>
            <a:r>
              <a:t>Demais fatores: localização, pessoas afetadas, ocorrências próximas e tempo de espera.</a:t>
            </a:r>
          </a:p>
          <a:p>
            <a:pPr>
              <a:spcAft>
                <a:spcPts val="1100"/>
              </a:spcAft>
              <a:defRPr sz="2000"/>
            </a:pPr>
            <a:r>
              <a:t>IA recomenda; regras e operador controlam a decisão.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9. SLA e escalonamento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Cada categoria deverá possuir prazo validado pela Prefeitura.</a:t>
            </a:r>
          </a:p>
          <a:p>
            <a:pPr>
              <a:spcAft>
                <a:spcPts val="1100"/>
              </a:spcAft>
              <a:defRPr sz="2000"/>
            </a:pPr>
            <a:r>
              <a:t>50% do SLA: atenção.</a:t>
            </a:r>
          </a:p>
          <a:p>
            <a:pPr>
              <a:spcAft>
                <a:spcPts val="1100"/>
              </a:spcAft>
              <a:defRPr sz="2000"/>
            </a:pPr>
            <a:r>
              <a:t>80%: em risco.</a:t>
            </a:r>
          </a:p>
          <a:p>
            <a:pPr>
              <a:spcAft>
                <a:spcPts val="1100"/>
              </a:spcAft>
              <a:defRPr sz="2000"/>
            </a:pPr>
            <a:r>
              <a:t>100%: escalonamento.</a:t>
            </a:r>
          </a:p>
          <a:p>
            <a:pPr>
              <a:spcAft>
                <a:spcPts val="1100"/>
              </a:spcAft>
              <a:defRPr sz="2000"/>
            </a:pPr>
            <a:r>
              <a:t>A fila pode mudar de prioridade conforme o tempo.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10. Aplicativo da equipe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Equipe e veículo.</a:t>
            </a:r>
          </a:p>
          <a:p>
            <a:pPr>
              <a:spcAft>
                <a:spcPts val="1100"/>
              </a:spcAft>
              <a:defRPr sz="2000"/>
            </a:pPr>
            <a:r>
              <a:t>KM inicial.</a:t>
            </a:r>
          </a:p>
          <a:p>
            <a:pPr>
              <a:spcAft>
                <a:spcPts val="1100"/>
              </a:spcAft>
              <a:defRPr sz="2000"/>
            </a:pPr>
            <a:r>
              <a:t>Recebimento da ordem.</a:t>
            </a:r>
          </a:p>
          <a:p>
            <a:pPr>
              <a:spcAft>
                <a:spcPts val="1100"/>
              </a:spcAft>
              <a:defRPr sz="2000"/>
            </a:pPr>
            <a:r>
              <a:t>Chegada e KM.</a:t>
            </a:r>
          </a:p>
          <a:p>
            <a:pPr>
              <a:spcAft>
                <a:spcPts val="1100"/>
              </a:spcAft>
              <a:defRPr sz="2000"/>
            </a:pPr>
            <a:r>
              <a:t>Execução, descrição e fotos.</a:t>
            </a:r>
          </a:p>
          <a:p>
            <a:pPr>
              <a:spcAft>
                <a:spcPts val="1100"/>
              </a:spcAft>
              <a:defRPr sz="2000"/>
            </a:pPr>
            <a:r>
              <a:t>KM final e encerramento.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11. Tela — equipe</a:t>
            </a:r>
          </a:p>
        </p:txBody>
      </p:sp>
      <p:pic>
        <p:nvPicPr>
          <p:cNvPr id="3" name="Picture 2" descr="03_tela_equi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1234440"/>
            <a:ext cx="3840480" cy="5321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12. Dashboard gerencial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Ocorrências do dia.</a:t>
            </a:r>
          </a:p>
          <a:p>
            <a:pPr>
              <a:spcAft>
                <a:spcPts val="1100"/>
              </a:spcAft>
              <a:defRPr sz="2000"/>
            </a:pPr>
            <a:r>
              <a:t>Pendentes, em atendimento e finalizadas.</a:t>
            </a:r>
          </a:p>
          <a:p>
            <a:pPr>
              <a:spcAft>
                <a:spcPts val="1100"/>
              </a:spcAft>
              <a:defRPr sz="2000"/>
            </a:pPr>
            <a:r>
              <a:t>Prioridade e categoria.</a:t>
            </a:r>
          </a:p>
          <a:p>
            <a:pPr>
              <a:spcAft>
                <a:spcPts val="1100"/>
              </a:spcAft>
              <a:defRPr sz="2000"/>
            </a:pPr>
            <a:r>
              <a:t>Mapa e regiões.</a:t>
            </a:r>
          </a:p>
          <a:p>
            <a:pPr>
              <a:spcAft>
                <a:spcPts val="1100"/>
              </a:spcAft>
              <a:defRPr sz="2000"/>
            </a:pPr>
            <a:r>
              <a:t>SLA, tempo médio e produtividade.</a:t>
            </a:r>
          </a:p>
          <a:p>
            <a:pPr>
              <a:spcAft>
                <a:spcPts val="1100"/>
              </a:spcAft>
              <a:defRPr sz="2000"/>
            </a:pPr>
            <a:r>
              <a:t>Quilometragem e indicadores de equipes.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13. Dashboard</a:t>
            </a:r>
          </a:p>
        </p:txBody>
      </p:sp>
      <p:pic>
        <p:nvPicPr>
          <p:cNvPr id="3" name="Picture 2" descr="04_dashboard_gere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1"/>
            <a:ext cx="10332720" cy="50960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14. Fluxo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1. Cidadão registra.</a:t>
            </a:r>
          </a:p>
          <a:p>
            <a:pPr>
              <a:spcAft>
                <a:spcPts val="1100"/>
              </a:spcAft>
              <a:defRPr sz="2000"/>
            </a:pPr>
            <a:r>
              <a:t>2. Sistema recebe foto + GPS.</a:t>
            </a:r>
          </a:p>
          <a:p>
            <a:pPr>
              <a:spcAft>
                <a:spcPts val="1100"/>
              </a:spcAft>
              <a:defRPr sz="2000"/>
            </a:pPr>
            <a:r>
              <a:t>3. IA/regras analisam.</a:t>
            </a:r>
          </a:p>
          <a:p>
            <a:pPr>
              <a:spcAft>
                <a:spcPts val="1100"/>
              </a:spcAft>
              <a:defRPr sz="2000"/>
            </a:pPr>
            <a:r>
              <a:t>4. Central valida.</a:t>
            </a:r>
          </a:p>
          <a:p>
            <a:pPr>
              <a:spcAft>
                <a:spcPts val="1100"/>
              </a:spcAft>
              <a:defRPr sz="2000"/>
            </a:pPr>
            <a:r>
              <a:t>5. Ocorrência é despachada.</a:t>
            </a:r>
          </a:p>
          <a:p>
            <a:pPr>
              <a:spcAft>
                <a:spcPts val="1100"/>
              </a:spcAft>
              <a:defRPr sz="2000"/>
            </a:pPr>
            <a:r>
              <a:t>6. Equipe registra deslocamento e execução.</a:t>
            </a:r>
          </a:p>
          <a:p>
            <a:pPr>
              <a:spcAft>
                <a:spcPts val="1100"/>
              </a:spcAft>
              <a:defRPr sz="2000"/>
            </a:pPr>
            <a:r>
              <a:t>7. Dashboard atualiza.</a:t>
            </a:r>
          </a:p>
          <a:p>
            <a:pPr>
              <a:spcAft>
                <a:spcPts val="1100"/>
              </a:spcAft>
              <a:defRPr sz="2000"/>
            </a:pPr>
            <a:r>
              <a:t>8. Cidadão recebe confirmação.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15. Arquitetura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Frontend/app: React, React Native ou Flutter.</a:t>
            </a:r>
          </a:p>
          <a:p>
            <a:pPr>
              <a:spcAft>
                <a:spcPts val="1100"/>
              </a:spcAft>
              <a:defRPr sz="2000"/>
            </a:pPr>
            <a:r>
              <a:t>Backend: Python + Flask/FastAPI.</a:t>
            </a:r>
          </a:p>
          <a:p>
            <a:pPr>
              <a:spcAft>
                <a:spcPts val="1100"/>
              </a:spcAft>
              <a:defRPr sz="2000"/>
            </a:pPr>
            <a:r>
              <a:t>Banco: PostgreSQL.</a:t>
            </a:r>
          </a:p>
          <a:p>
            <a:pPr>
              <a:spcAft>
                <a:spcPts val="1100"/>
              </a:spcAft>
              <a:defRPr sz="2000"/>
            </a:pPr>
            <a:r>
              <a:t>Mapas e georreferenciamento.</a:t>
            </a:r>
          </a:p>
          <a:p>
            <a:pPr>
              <a:spcAft>
                <a:spcPts val="1100"/>
              </a:spcAft>
              <a:defRPr sz="2000"/>
            </a:pPr>
            <a:r>
              <a:t>IA para classificação, imagem e duplicidade.</a:t>
            </a:r>
          </a:p>
          <a:p>
            <a:pPr>
              <a:spcAft>
                <a:spcPts val="1100"/>
              </a:spcAft>
              <a:defRPr sz="2000"/>
            </a:pPr>
            <a:r>
              <a:t>Dashboard web.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16. Business Model Canvas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46E"/>
                </a:solidFill>
              </a:defRPr>
            </a:pPr>
            <a:r>
              <a:t>Modelo de negócio simplificado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3444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Parceiros-chave</a:t>
            </a:r>
          </a:p>
          <a:p>
            <a:pPr>
              <a:defRPr sz="1100"/>
            </a:pPr>
            <a:r>
              <a:t>Prefeitura, secretarias, Fatec, equipes, fornecedores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23444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Atividades-chave</a:t>
            </a:r>
          </a:p>
          <a:p>
            <a:pPr>
              <a:defRPr sz="1100"/>
            </a:pPr>
            <a:r>
              <a:t>Registrar, validar, priorizar, despachar, executar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3444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Recursos-chave</a:t>
            </a:r>
          </a:p>
          <a:p>
            <a:pPr>
              <a:defRPr sz="1100"/>
            </a:pPr>
            <a:r>
              <a:t>App, API, banco, mapas, IA,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234440"/>
            <a:ext cx="4434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Proposta de valor</a:t>
            </a:r>
          </a:p>
          <a:p>
            <a:pPr>
              <a:defRPr sz="1100"/>
            </a:pPr>
            <a:r>
              <a:t>Manifestações → ordens inteligentes e mensuráveis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461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Relacionamento</a:t>
            </a:r>
          </a:p>
          <a:p>
            <a:pPr>
              <a:defRPr sz="1100"/>
            </a:pPr>
            <a:r>
              <a:t>Protocolo, notificações, transparência, avaliação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32461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Canais</a:t>
            </a:r>
          </a:p>
          <a:p>
            <a:pPr>
              <a:defRPr sz="1100"/>
            </a:pPr>
            <a:r>
              <a:t>App, Minha Indaiatuba, portal, central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246120"/>
            <a:ext cx="2240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Segmentos</a:t>
            </a:r>
          </a:p>
          <a:p>
            <a:pPr>
              <a:defRPr sz="1100"/>
            </a:pPr>
            <a:r>
              <a:t>Cidadãos, Prefeitura, equipes, terceirizadas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32461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Custos</a:t>
            </a:r>
          </a:p>
          <a:p>
            <a:pPr>
              <a:defRPr sz="1100"/>
            </a:pPr>
            <a:r>
              <a:t>Desenvolvimento, nuvem, mapas, manutenção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3246120"/>
            <a:ext cx="2148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5B96"/>
                </a:solidFill>
              </a:defRPr>
            </a:pPr>
            <a:r>
              <a:t>Valor gerado</a:t>
            </a:r>
          </a:p>
          <a:p>
            <a:pPr>
              <a:defRPr sz="1100"/>
            </a:pPr>
            <a:r>
              <a:t>Eficiência pública, produtividade, transparência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17. MVP do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Demonstrar um único ciclo completo.</a:t>
            </a:r>
          </a:p>
          <a:p>
            <a:pPr>
              <a:spcAft>
                <a:spcPts val="1100"/>
              </a:spcAft>
              <a:defRPr sz="2000"/>
            </a:pPr>
            <a:r>
              <a:t>Buraco → foto/GPS → classificação → prioridade → central → equipe → execução → encerramento → dashboard → cidadão.</a:t>
            </a:r>
          </a:p>
          <a:p>
            <a:pPr>
              <a:spcAft>
                <a:spcPts val="1100"/>
              </a:spcAft>
              <a:defRPr sz="2000"/>
            </a:pPr>
            <a:r>
              <a:t>Poucas funcionalidades, mas ponta a ponta funcionando.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18.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Tempo médio de atendimento.</a:t>
            </a:r>
          </a:p>
          <a:p>
            <a:pPr>
              <a:spcAft>
                <a:spcPts val="1100"/>
              </a:spcAft>
              <a:defRPr sz="2000"/>
            </a:pPr>
            <a:r>
              <a:t>% dentro do SLA.</a:t>
            </a:r>
          </a:p>
          <a:p>
            <a:pPr>
              <a:spcAft>
                <a:spcPts val="1100"/>
              </a:spcAft>
              <a:defRPr sz="2000"/>
            </a:pPr>
            <a:r>
              <a:t>Tempo de deslocamento.</a:t>
            </a:r>
          </a:p>
          <a:p>
            <a:pPr>
              <a:spcAft>
                <a:spcPts val="1100"/>
              </a:spcAft>
              <a:defRPr sz="2000"/>
            </a:pPr>
            <a:r>
              <a:t>Tempo de execução.</a:t>
            </a:r>
          </a:p>
          <a:p>
            <a:pPr>
              <a:spcAft>
                <a:spcPts val="1100"/>
              </a:spcAft>
              <a:defRPr sz="2000"/>
            </a:pPr>
            <a:r>
              <a:t>KM por ocorrência.</a:t>
            </a:r>
          </a:p>
          <a:p>
            <a:pPr>
              <a:spcAft>
                <a:spcPts val="1100"/>
              </a:spcAft>
              <a:defRPr sz="2000"/>
            </a:pPr>
            <a:r>
              <a:t>Ocorrências por equipe.</a:t>
            </a:r>
          </a:p>
          <a:p>
            <a:pPr>
              <a:spcAft>
                <a:spcPts val="1100"/>
              </a:spcAft>
              <a:defRPr sz="2000"/>
            </a:pPr>
            <a:r>
              <a:t>Taxa de duplicidade.</a:t>
            </a:r>
          </a:p>
          <a:p>
            <a:pPr>
              <a:spcAft>
                <a:spcPts val="1100"/>
              </a:spcAft>
              <a:defRPr sz="2000"/>
            </a:pPr>
            <a:r>
              <a:t>Satisfação do cidadão.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19.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Fase 1: MVP do Hackathon.</a:t>
            </a:r>
          </a:p>
          <a:p>
            <a:pPr>
              <a:spcAft>
                <a:spcPts val="1100"/>
              </a:spcAft>
              <a:defRPr sz="2000"/>
            </a:pPr>
            <a:r>
              <a:t>Fase 2: IA, mapas avançados, notificações e integração.</a:t>
            </a:r>
          </a:p>
          <a:p>
            <a:pPr>
              <a:spcAft>
                <a:spcPts val="1100"/>
              </a:spcAft>
              <a:defRPr sz="2000"/>
            </a:pPr>
            <a:r>
              <a:t>Fase 3: análise histórica e manutenção preditiva.</a:t>
            </a:r>
          </a:p>
          <a:p>
            <a:pPr>
              <a:spcAft>
                <a:spcPts val="1100"/>
              </a:spcAft>
              <a:defRPr sz="2000"/>
            </a:pPr>
            <a:r>
              <a:t>Fase 4: sensores, câmeras e integração com outros sistemas.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5B96"/>
                </a:solidFill>
              </a:defRPr>
            </a:pPr>
            <a:r>
              <a:t>20. Pitch — mensagem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000"/>
            </a:pPr>
            <a:r>
              <a:t>Não estamos criando apenas um aplicativo de reclamações.</a:t>
            </a:r>
          </a:p>
          <a:p>
            <a:pPr>
              <a:spcAft>
                <a:spcPts val="1100"/>
              </a:spcAft>
              <a:defRPr sz="2000"/>
            </a:pPr>
            <a:r>
              <a:t>Estamos propondo uma camada de inteligência operacional para a zeladoria.</a:t>
            </a:r>
          </a:p>
          <a:p>
            <a:pPr>
              <a:spcAft>
                <a:spcPts val="1100"/>
              </a:spcAft>
              <a:defRPr sz="2000"/>
            </a:pPr>
            <a:r>
              <a:t>Cidadão identifica → sistema organiza → Prefeitura decide → equipe executa → gestor mede → cidadão recebe o resultado.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Macintosh PowerPoint</Application>
  <PresentationFormat>Personalizar</PresentationFormat>
  <Paragraphs>118</Paragraphs>
  <Slides>21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Milton</cp:lastModifiedBy>
  <cp:revision>2</cp:revision>
  <dcterms:created xsi:type="dcterms:W3CDTF">2013-01-27T09:14:16Z</dcterms:created>
  <dcterms:modified xsi:type="dcterms:W3CDTF">2026-10-06T21:29:35Z</dcterms:modified>
  <cp:category/>
</cp:coreProperties>
</file>